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1F3B"/>
                </a:solidFill>
                <a:latin typeface="Arial"/>
              </a:rPr>
              <a:t>Legitimate vs. Fraudulent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Legitimate</c:v>
                </c:pt>
                <c:pt idx="1">
                  <c:v>Fraud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836</c:v>
                </c:pt>
                <c:pt idx="1">
                  <c:v>164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Online</c:v>
                  </c:pt>
                  <c:pt idx="1">
                    <c:v>ATM</c:v>
                  </c:pt>
                  <c:pt idx="2">
                    <c:v>POS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48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CADCFC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CADCFC"/>
                    </a:solidFill>
                    <a:latin typeface="Arial"/>
                  </a:rPr>
                  <a:t>Fraud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Grocery</c:v>
                  </c:pt>
                  <c:pt idx="1">
                    <c:v>Electronics</c:v>
                  </c:pt>
                  <c:pt idx="2">
                    <c:v>Fashion</c:v>
                  </c:pt>
                  <c:pt idx="3">
                    <c:v>Travel</c:v>
                  </c:pt>
                  <c:pt idx="4">
                    <c:v>Food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19.7</c:v>
                </c:pt>
                <c:pt idx="1">
                  <c:v>16.9</c:v>
                </c:pt>
                <c:pt idx="2">
                  <c:v>15.8</c:v>
                </c:pt>
                <c:pt idx="3">
                  <c:v>15.3</c:v>
                </c:pt>
                <c:pt idx="4">
                  <c:v>14.1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4C5F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Mumbai</c:v>
                  </c:pt>
                  <c:pt idx="1">
                    <c:v>Delhi</c:v>
                  </c:pt>
                  <c:pt idx="2">
                    <c:v>Hyderabad</c:v>
                  </c:pt>
                  <c:pt idx="3">
                    <c:v>Bangalore</c:v>
                  </c:pt>
                  <c:pt idx="4">
                    <c:v>Chennai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16.9</c:v>
                </c:pt>
                <c:pt idx="1">
                  <c:v>16.5</c:v>
                </c:pt>
                <c:pt idx="2">
                  <c:v>16.4</c:v>
                </c:pt>
                <c:pt idx="3">
                  <c:v>16.1</c:v>
                </c:pt>
                <c:pt idx="4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Arial"/>
              </a:rPr>
              <a:t>Average Transaction Amount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Amount (₹)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Legitimate</c:v>
                  </c:pt>
                  <c:pt idx="1">
                    <c:v>Fraudulent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44446</c:v>
                </c:pt>
                <c:pt idx="1">
                  <c:v>73980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61C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7772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ANALYTICS PROJECT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Fraud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&amp; Analysis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Excel-based exploratory data analysis of 1,000 transactions — uncovering fraud patterns through PivotTables, conditional formatting, and dashboard visualization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943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Alekhya Komara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|  Data Analytics Fresher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3088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Patterns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where and how fraudulent transactions cluster across channel, location, and category.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78308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3088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Risk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56616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fraud rate and financial exposure using Excel formulas, PivotTables, and summary statistics.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78308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23088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Dashboard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356616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transaction data into an interactive, decision-ready Excel dashboard with slicers and charts.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1783080"/>
            <a:ext cx="2514600" cy="4206240"/>
          </a:xfrm>
          <a:prstGeom prst="roundRect">
            <a:avLst>
              <a:gd name="adj" fmla="val 436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66960" y="21488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980" y="23088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30632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Controls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35440" y="356616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practical fraud-prevention recommendations for the business.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Credit_Card_Fraud_Cleaned_Dataset.csv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4505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200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7307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480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" y="50109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6692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57607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Days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62910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 – Feb 11, 2025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828800"/>
          <a:ext cx="8229600" cy="416052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Transaction_ID / Customer_ID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of transaction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City: Mumbai, Delhi, Bangalore, Hyderabad, Chennai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/ POS / ATM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Card_Type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/ Debit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Merchant_Category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Grocery, Food, Travel, Fashion, Electronics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value (₹)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Is_Fraud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flag — 0 = Legitimate, 1 = Fraud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Excel Toolkit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analysis was built, step by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1259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19202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 and nulls; standardized Date and Amount formats using Excel Power Query.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1259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202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7200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72000" y="3017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fraud counts and rates by Location, Card Type, Transaction Type, and Merchant Category.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17830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1259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064240" y="19202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6676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366760" y="3017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high-risk transactions and outlier amounts for quick visual scanning.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0690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41198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474720" y="42062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77240" y="4937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77240" y="5303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COUNTIFS, SUMIFS, and AVERAGEIFS to calculate fraud rate and average transaction value by segment.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343400" y="40690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200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441198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69480" y="42062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4572000" y="4937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572000" y="5303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bar, pie, and column charts to visualize fraud distribution across categories.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138160" y="40690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6676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41198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064240" y="42062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8366760" y="4937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366760" y="5303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charts, slicers, and KPI cards into a single interactive Excel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1,000 transactions analyzed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836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Transactions  (83.6%)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40233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 (16.4%)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931920" y="1737360"/>
          <a:ext cx="4937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9144000" y="1828800"/>
            <a:ext cx="2468880" cy="3840480"/>
          </a:xfrm>
          <a:prstGeom prst="roundRect">
            <a:avLst>
              <a:gd name="adj" fmla="val 37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0574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72600" y="2651760"/>
            <a:ext cx="2011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every 6 transactions in this dataset is fraudulent — a materially high exposure rate that warrants stronger controls.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Insight: Channel Risk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8872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by transaction channel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6309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223760" y="1737360"/>
            <a:ext cx="4389120" cy="4114800"/>
          </a:xfrm>
          <a:prstGeom prst="roundRect">
            <a:avLst>
              <a:gd name="adj" fmla="val 2222"/>
            </a:avLst>
          </a:prstGeom>
          <a:solidFill>
            <a:srgbClr val="161C4A"/>
          </a:solidFill>
          <a:ln/>
        </p:spPr>
      </p:sp>
      <p:sp>
        <p:nvSpPr>
          <p:cNvPr id="7" name="Text 3"/>
          <p:cNvSpPr/>
          <p:nvPr/>
        </p:nvSpPr>
        <p:spPr>
          <a:xfrm>
            <a:off x="7498080" y="19659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000" dirty="0"/>
          </a:p>
        </p:txBody>
      </p:sp>
      <p:sp>
        <p:nvSpPr>
          <p:cNvPr id="8" name="Text 4"/>
          <p:cNvSpPr/>
          <p:nvPr/>
        </p:nvSpPr>
        <p:spPr>
          <a:xfrm>
            <a:off x="7498080" y="30175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fraudulent transactions in this dataset occurred through the Online channel.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498080" y="41148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and POS transactions recorded zero fraud cases. This makes channel the single strongest fraud predictor in the dataset — more decisive than location, card type, or merchant category.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by Category &amp; Location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risk factors within the Online channel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by Merchant Category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56692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by City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965960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Value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skew significantly higher in value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73736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29400" y="184708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₹73,980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412480" y="184708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fraud transaction — 66% higher than legitimate average of ₹44,446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0" y="315468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9400" y="32644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412480" y="326440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transaction value lost to fraud, despite fraud being only 16.4% of transaction count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457200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29400" y="468172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₹1.21 Cr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412480" y="468172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of fraudulent transactions across the 42-day period analyzed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40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1671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is high at 16.4% and concentrated entirely in Online transactions (48% fraud rate within that channel).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340156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and POS channels show zero fraud, suggesting existing card-present controls (PIN, chip) are effective.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0916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463600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average ₹73,980 — 66% higher in value than legitimate ones.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0080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4028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8000" y="21671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authentication for Online transactions: OTP, 3D-Secure, and device fingerprinting.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47472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340156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high-value online transactions above ₹70,000 for real-time review.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70916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858000" y="463600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extra scrutiny to Grocery and Electronics categories, which show the highest fraud rates.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548640" y="6126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&amp; Analysis</dc:title>
  <dc:subject>PptxGenJS Presentation</dc:subject>
  <dc:creator>Alekhya Komara</dc:creator>
  <cp:lastModifiedBy>Alekhya Komara</cp:lastModifiedBy>
  <cp:revision>1</cp:revision>
  <dcterms:created xsi:type="dcterms:W3CDTF">2026-07-08T06:57:38Z</dcterms:created>
  <dcterms:modified xsi:type="dcterms:W3CDTF">2026-07-08T06:57:38Z</dcterms:modified>
</cp:coreProperties>
</file>